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0"/>
  </p:notesMasterIdLst>
  <p:handoutMasterIdLst>
    <p:handoutMasterId r:id="rId31"/>
  </p:handoutMasterIdLst>
  <p:sldIdLst>
    <p:sldId id="410" r:id="rId5"/>
    <p:sldId id="383" r:id="rId6"/>
    <p:sldId id="404" r:id="rId7"/>
    <p:sldId id="391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12" r:id="rId17"/>
    <p:sldId id="423" r:id="rId18"/>
    <p:sldId id="398" r:id="rId19"/>
    <p:sldId id="409" r:id="rId20"/>
    <p:sldId id="389" r:id="rId21"/>
    <p:sldId id="422" r:id="rId22"/>
    <p:sldId id="397" r:id="rId23"/>
    <p:sldId id="408" r:id="rId24"/>
    <p:sldId id="407" r:id="rId25"/>
    <p:sldId id="406" r:id="rId26"/>
    <p:sldId id="405" r:id="rId27"/>
    <p:sldId id="411" r:id="rId28"/>
    <p:sldId id="403" r:id="rId29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成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273" autoAdjust="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29A6D377-CE9F-42F4-9401-7CF08A855EE4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2026/8/17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E2C230DF-5933-439D-898F-38E9AC9BA688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ヘッダー プレースホルダー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0A38C37-4D1D-465C-9C93-03A26BBDD059}" type="datetime1">
              <a:rPr lang="ja-JP" altLang="en-US" smtClean="0">
                <a:ea typeface="Meiryo UI" panose="020B0604030504040204" pitchFamily="50" charset="-128"/>
              </a:rPr>
              <a:t>2026/8/17</a:t>
            </a:fld>
            <a:endParaRPr dirty="0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89C7E07-3C67-C64C-8DA0-0404F6303970}" type="slidenum">
              <a:rPr lang="en-US" altLang="ja-JP" smtClean="0"/>
              <a:pPr/>
              <a:t>‹#›</a:t>
            </a:fld>
            <a:endParaRPr lang="en-US" altLang="en-US" dirty="0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CD684-4B9F-C05F-4CF0-E843F4BC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4DE042B-9DE8-D067-143B-DD35D0046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27E5C6-A0FA-0F3C-C055-9009BF5FA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EA2DEF-4156-84C9-D4FE-9E1EE1BEE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3627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AB09-EACD-31D7-3F11-9DC7667F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B1AEB63-136F-A151-E90F-6467BFA77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DD4221-5D93-490C-2930-45FC7D3BE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EF1CBE-9EA2-96F0-4917-FCD08679D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3183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8F2A-7F08-FF0F-6C56-9E8CF887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9059232-6E69-9232-98C1-18E24D89D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91900D0-4784-2657-63E7-A483D9CA6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4592B4-02F8-A1B0-F47F-CB593D576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1171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6CF5-CA52-5385-E2DE-AD48DEEF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3F9DD87-D7BE-5CA5-1162-EB37BAA15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6BCFD30-C709-6962-19EC-737170607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929242-B803-A76D-002E-BC321C2D4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5529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39FE2-0F51-9DCC-B039-A7EC494D8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CA967D-91B1-D77C-4D80-181215DF4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7078FA-2AC9-DA88-D9C1-D293A3CC5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269A11-A38B-5450-BDFD-4922AFB8D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8142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CB68-E92F-B14C-4B4E-0C0FCC673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204495-D4F6-2812-D7C8-07F987E4C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5584608-8BCE-F95D-A3EC-109EA520E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3E2ABB-5A00-C498-BBC6-6416A4DF8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0626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3263E-6CE9-22F0-714B-83BB74FD5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8A47D0A-D092-F708-E8BA-DE115B980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2C63EF1-C662-F66E-906C-E1618FD12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BC2F1C-1754-E38E-DF62-E0C55F5FD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1606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5060-9B8B-2B3E-63C3-E2D3E025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0C79F5F-47F2-12D6-3BBA-0CBD9295E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FE3FED9-58C9-DFFB-B4CE-BF763F0D8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7DDF8B-370C-3A7F-8278-58FD5CB16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1819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F121-8A1E-BEC3-127F-95FCAC80F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025F1A5-86C9-32CE-A612-DAD8FB18E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BD299EE-2573-8598-1080-FD2E7ED5E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A428C3-EA57-B973-BEB4-EA23F02EA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852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5F5FB-EF41-547B-7189-D17E5527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7B94A31-6BFC-8911-AA1B-D6F0F00DA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1FE1B45-67CE-4E6B-0D19-527BEA0D3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2085F1-B539-D123-83CE-B5EBADFDD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3463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15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16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56D2-6F2E-804B-4E22-5A39EB1F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A9F36F-CB1F-1006-8E36-B1A03481F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074BA2C-C1A5-B597-A442-29FD5DA39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205F41-E01E-41F8-5056-5E4F7D78A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424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19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23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648-D5A6-ED2F-1A43-6606842F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53BE77C-ABD1-AAFC-48B5-8F3FF04AA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4D49A2-92A9-0C3E-29CF-74CA72C64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CD5FA9-1B36-C5AE-73E0-38566E183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7561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25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題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オートシェイプ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フリーフォーム(F)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フリーフォーム(F)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2" name="タイトル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 spc="5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ja-JP" sz="2400" b="1" i="0" kern="1200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indent="-283464"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3" name="スライド番号プレースホルダー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42" name="日付プレースホルダー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のタイトル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ja-JP"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6000" b="1" i="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 </a:t>
            </a:r>
          </a:p>
        </p:txBody>
      </p:sp>
      <p:sp>
        <p:nvSpPr>
          <p:cNvPr id="7" name="長方形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概要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グループ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フリーフォーム(F)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2" name="タイトル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​​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段組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フリーフォーム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943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486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オートシェイプ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フリーフォーム(F)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フリーフォーム(F)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ja-JP" sz="2000"/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endParaRPr lang="ja-JP" altLang="en-US" noProof="0" dirty="0"/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486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画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表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フリーフォーム(F)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フリーフォーム(F)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フリーフォーム(F)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段組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フリーフォーム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9" name="表プレースホルダー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アイコンをクリックして表を追加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2" name="タイトル プレースホルダー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0" name="日付プレースホルダー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ja-JP" sz="1100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2" name="スライド番号プレースホルダー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ja-JP" sz="11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4400" b="1" i="0" kern="1200" spc="100" baseline="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 lang="ja-JP">
          <a:solidFill>
            <a:schemeClr val="tx2"/>
          </a:solidFill>
        </a:defRPr>
      </a:lvl2pPr>
      <a:lvl3pPr eaLnBrk="1" hangingPunct="1">
        <a:defRPr kumimoji="1" lang="ja-JP">
          <a:solidFill>
            <a:schemeClr val="tx2"/>
          </a:solidFill>
        </a:defRPr>
      </a:lvl3pPr>
      <a:lvl4pPr eaLnBrk="1" hangingPunct="1">
        <a:defRPr kumimoji="1" lang="ja-JP">
          <a:solidFill>
            <a:schemeClr val="tx2"/>
          </a:solidFill>
        </a:defRPr>
      </a:lvl4pPr>
      <a:lvl5pPr eaLnBrk="1" hangingPunct="1">
        <a:defRPr kumimoji="1" lang="ja-JP">
          <a:solidFill>
            <a:schemeClr val="tx2"/>
          </a:solidFill>
        </a:defRPr>
      </a:lvl5pPr>
      <a:lvl6pPr eaLnBrk="1" hangingPunct="1">
        <a:defRPr kumimoji="1" lang="ja-JP">
          <a:solidFill>
            <a:schemeClr val="tx2"/>
          </a:solidFill>
        </a:defRPr>
      </a:lvl6pPr>
      <a:lvl7pPr eaLnBrk="1" hangingPunct="1">
        <a:defRPr kumimoji="1" lang="ja-JP">
          <a:solidFill>
            <a:schemeClr val="tx2"/>
          </a:solidFill>
        </a:defRPr>
      </a:lvl7pPr>
      <a:lvl8pPr eaLnBrk="1" hangingPunct="1">
        <a:defRPr kumimoji="1" lang="ja-JP">
          <a:solidFill>
            <a:schemeClr val="tx2"/>
          </a:solidFill>
        </a:defRPr>
      </a:lvl8pPr>
      <a:lvl9pPr eaLnBrk="1" hangingPunct="1">
        <a:defRPr kumimoji="1" lang="ja-JP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ja-JP" sz="2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4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0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364" y="419500"/>
            <a:ext cx="5700304" cy="3291840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en-US" altLang="ja-JP" dirty="0"/>
              <a:t>FPGA</a:t>
            </a:r>
            <a:r>
              <a:rPr lang="ja-JP" altLang="en-US" dirty="0"/>
              <a:t>カメラ課題</a:t>
            </a:r>
            <a:br>
              <a:rPr lang="en-US" altLang="ja-JP" dirty="0"/>
            </a:br>
            <a:r>
              <a:rPr lang="ja-JP" altLang="en-US" dirty="0"/>
              <a:t>成果発表</a:t>
            </a:r>
            <a:endParaRPr lang="ja-JP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D1968BA-EF33-D081-5483-9404B21513F4}"/>
              </a:ext>
            </a:extLst>
          </p:cNvPr>
          <p:cNvSpPr txBox="1"/>
          <p:nvPr/>
        </p:nvSpPr>
        <p:spPr>
          <a:xfrm>
            <a:off x="6309904" y="4291263"/>
            <a:ext cx="2611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2026</a:t>
            </a:r>
            <a:r>
              <a:rPr kumimoji="1" lang="ja-JP" altLang="en-US" dirty="0">
                <a:solidFill>
                  <a:schemeClr val="bg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年度台湾インターン</a:t>
            </a:r>
            <a:endParaRPr kumimoji="1" lang="en-US" altLang="zh-TW" dirty="0">
              <a:solidFill>
                <a:schemeClr val="bg1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kumimoji="1" lang="zh-TW" altLang="en-US" dirty="0">
                <a:solidFill>
                  <a:schemeClr val="bg1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黃安華 陳昭瑄</a:t>
            </a:r>
            <a:endParaRPr kumimoji="1" lang="ja-JP" altLang="en-US" dirty="0">
              <a:solidFill>
                <a:schemeClr val="bg1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dirty="0"/>
              <a:t>議題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ja-JP"/>
            </a:defPPr>
          </a:lstStyle>
          <a:p>
            <a:pPr rtl="0"/>
            <a:r>
              <a:rPr lang="ja-JP" dirty="0"/>
              <a:t>概要</a:t>
            </a:r>
          </a:p>
          <a:p>
            <a:pPr rtl="0"/>
            <a:r>
              <a:rPr lang="ja-JP" altLang="en-US" dirty="0"/>
              <a:t>研究内容</a:t>
            </a:r>
            <a:endParaRPr lang="en-US" altLang="ja-JP" dirty="0"/>
          </a:p>
          <a:p>
            <a:pPr rtl="0"/>
            <a:r>
              <a:rPr lang="ja-JP" altLang="en-US" dirty="0"/>
              <a:t>研究で</a:t>
            </a:r>
            <a:r>
              <a:rPr lang="zh-TW" altLang="en-US" dirty="0"/>
              <a:t>得</a:t>
            </a:r>
            <a:r>
              <a:rPr lang="ja-JP" altLang="en-US" dirty="0"/>
              <a:t>られた結果</a:t>
            </a:r>
            <a:endParaRPr lang="en-US" altLang="ja-JP" dirty="0"/>
          </a:p>
          <a:p>
            <a:pPr rtl="0"/>
            <a:r>
              <a:rPr lang="ja-JP" altLang="en-US" dirty="0"/>
              <a:t>反省</a:t>
            </a:r>
            <a:endParaRPr lang="en-US" altLang="ja-JP" dirty="0"/>
          </a:p>
          <a:p>
            <a:pPr rtl="0"/>
            <a:r>
              <a:rPr lang="ja-JP" altLang="en-US" dirty="0"/>
              <a:t>まとめ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概要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/>
          <a:lstStyle>
            <a:defPPr>
              <a:defRPr lang="ja-JP"/>
            </a:defPPr>
          </a:lstStyle>
          <a:p>
            <a:pPr lvl="1" rtl="0"/>
            <a:r>
              <a:rPr lang="en-US" altLang="zh-TW" dirty="0"/>
              <a:t>8</a:t>
            </a:r>
            <a:r>
              <a:rPr lang="zh-TW" altLang="en-US" dirty="0"/>
              <a:t>月我們開始學習</a:t>
            </a:r>
            <a:r>
              <a:rPr lang="en-US" altLang="zh-TW" dirty="0"/>
              <a:t>FPGA</a:t>
            </a:r>
            <a:r>
              <a:rPr lang="zh-TW" altLang="en-US" dirty="0"/>
              <a:t>，先學了基本</a:t>
            </a:r>
            <a:r>
              <a:rPr lang="en-US" altLang="zh-TW" dirty="0"/>
              <a:t>LED</a:t>
            </a:r>
            <a:r>
              <a:rPr lang="zh-TW" altLang="en-US" dirty="0"/>
              <a:t>控制和</a:t>
            </a:r>
            <a:r>
              <a:rPr lang="en-US" altLang="zh-TW" dirty="0"/>
              <a:t>HDMI</a:t>
            </a:r>
            <a:r>
              <a:rPr lang="zh-TW" altLang="en-US" dirty="0"/>
              <a:t>接螢幕，接著便進入到本次報告的相機濾鏡課題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zh-TW" altLang="en-US" dirty="0"/>
              <a:t>研究內容</a:t>
            </a:r>
            <a:endParaRPr lang="ja-JP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r>
              <a:rPr lang="zh-TW" altLang="en-US" dirty="0"/>
              <a:t>使用</a:t>
            </a:r>
            <a:r>
              <a:rPr lang="ja-JP" altLang="ja-JP" dirty="0"/>
              <a:t>Raspberry Pi Camera Module</a:t>
            </a:r>
            <a:r>
              <a:rPr lang="zh-TW" altLang="en-US" dirty="0"/>
              <a:t> </a:t>
            </a:r>
            <a:r>
              <a:rPr lang="en-US" altLang="zh-TW" dirty="0"/>
              <a:t>V2</a:t>
            </a:r>
            <a:r>
              <a:rPr lang="zh-TW" altLang="en-US" dirty="0"/>
              <a:t>相機捕捉畫面，並經由</a:t>
            </a:r>
            <a:r>
              <a:rPr lang="en-US" altLang="zh-TW" dirty="0"/>
              <a:t>Kria KV260</a:t>
            </a:r>
            <a:r>
              <a:rPr lang="zh-TW" altLang="en-US" dirty="0"/>
              <a:t>開發板對影像進行加工加上濾鏡後通過</a:t>
            </a:r>
            <a:r>
              <a:rPr lang="en-US" altLang="zh-TW" dirty="0"/>
              <a:t>HDMI</a:t>
            </a:r>
            <a:r>
              <a:rPr lang="zh-TW" altLang="en-US" dirty="0"/>
              <a:t>線傳送到螢幕顯示處理後的成果</a:t>
            </a:r>
            <a:endParaRPr lang="en-US" altLang="zh-TW" dirty="0"/>
          </a:p>
          <a:p>
            <a:pPr rtl="0"/>
            <a:r>
              <a:rPr lang="en-US" altLang="zh-TW" dirty="0"/>
              <a:t>(</a:t>
            </a:r>
            <a:r>
              <a:rPr lang="zh-TW" altLang="en-US" dirty="0"/>
              <a:t>流程示意圖之類的</a:t>
            </a:r>
            <a:r>
              <a:rPr lang="en-US" altLang="zh-TW" dirty="0"/>
              <a:t>)</a:t>
            </a:r>
            <a:endParaRPr lang="ja-JP" dirty="0"/>
          </a:p>
          <a:p>
            <a:pPr rtl="0"/>
            <a:endParaRPr lang="ja-JP" dirty="0"/>
          </a:p>
        </p:txBody>
      </p:sp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フリーフォーム(F)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(F)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032A1-31DA-D5BA-7354-EF7CFD6A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A2711C-8EA9-DC9C-D9A9-EBBD022F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使えた</a:t>
            </a:r>
            <a:r>
              <a:rPr lang="zh-TW" altLang="en-US" dirty="0"/>
              <a:t>機器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E2FB18-99BA-BF0D-65D2-0E7E66B842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/>
          <a:lstStyle>
            <a:defPPr>
              <a:defRPr lang="ja-JP"/>
            </a:defPPr>
          </a:lstStyle>
          <a:p>
            <a:pPr lvl="1"/>
            <a:r>
              <a:rPr lang="ja-JP" altLang="ja-JP" dirty="0"/>
              <a:t>Kria KV260 ビジョン AI スターター キット</a:t>
            </a:r>
            <a:endParaRPr lang="en-US" altLang="ja-JP" dirty="0"/>
          </a:p>
          <a:p>
            <a:pPr lvl="1"/>
            <a:r>
              <a:rPr lang="ja-JP" altLang="ja-JP" dirty="0"/>
              <a:t>Raspberry Pi Camera Module</a:t>
            </a:r>
            <a:r>
              <a:rPr lang="zh-TW" altLang="en-US" dirty="0"/>
              <a:t> </a:t>
            </a:r>
            <a:r>
              <a:rPr lang="en-US" altLang="zh-TW" dirty="0"/>
              <a:t>V2</a:t>
            </a:r>
          </a:p>
          <a:p>
            <a:pPr lvl="1"/>
            <a:r>
              <a:rPr lang="ja-JP" altLang="en-US" dirty="0"/>
              <a:t>モニター</a:t>
            </a:r>
            <a:endParaRPr lang="ja-JP" altLang="ja-JP" dirty="0"/>
          </a:p>
          <a:p>
            <a:pPr lvl="1" rtl="0"/>
            <a:endParaRPr lang="ja-JP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359C425-9AED-6B6F-8A6A-F6ACA2BEF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557" y="3499711"/>
            <a:ext cx="3425712" cy="2545304"/>
          </a:xfrm>
          <a:prstGeom prst="rect">
            <a:avLst/>
          </a:prstGeom>
        </p:spPr>
      </p:pic>
      <p:pic>
        <p:nvPicPr>
          <p:cNvPr id="6" name="圖片 5" descr="Kria™ KV260 Vision AI Starter Kit - AMD | DigiKey">
            <a:extLst>
              <a:ext uri="{FF2B5EF4-FFF2-40B4-BE49-F238E27FC236}">
                <a16:creationId xmlns:a16="http://schemas.microsoft.com/office/drawing/2014/main" id="{82EBF0BC-8EE9-0D8D-F9A9-0F6AEEF0B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557" y="510841"/>
            <a:ext cx="2692227" cy="216568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F5B265B-D5B4-476E-DCEA-5A216C1AC0F4}"/>
              </a:ext>
            </a:extLst>
          </p:cNvPr>
          <p:cNvSpPr txBox="1"/>
          <p:nvPr/>
        </p:nvSpPr>
        <p:spPr>
          <a:xfrm>
            <a:off x="7153941" y="2988958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>
                <a:solidFill>
                  <a:schemeClr val="bg1"/>
                </a:solidFill>
              </a:rPr>
              <a:t>Kria KV260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F65B4B7-E737-8889-F0B0-7DB1BD2A6B1E}"/>
              </a:ext>
            </a:extLst>
          </p:cNvPr>
          <p:cNvSpPr txBox="1"/>
          <p:nvPr/>
        </p:nvSpPr>
        <p:spPr>
          <a:xfrm>
            <a:off x="6080760" y="6089329"/>
            <a:ext cx="4276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ja-JP" altLang="ja-JP" dirty="0">
                <a:solidFill>
                  <a:schemeClr val="bg1"/>
                </a:solidFill>
              </a:rPr>
              <a:t>Raspberry Pi Camera Module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V2</a:t>
            </a:r>
          </a:p>
        </p:txBody>
      </p:sp>
    </p:spTree>
    <p:extLst>
      <p:ext uri="{BB962C8B-B14F-4D97-AF65-F5344CB8AC3E}">
        <p14:creationId xmlns:p14="http://schemas.microsoft.com/office/powerpoint/2010/main" val="1644071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4F40-EBA5-F0DC-CDB6-747BFC64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B9AA4E-B453-58C7-6C84-B9A6B679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zh-TW" altLang="en-US" dirty="0"/>
              <a:t>介紹有哪些濾鏡之類的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7396A6-52ED-139E-29D7-08BF1730957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/>
          <a:lstStyle>
            <a:defPPr>
              <a:defRPr lang="ja-JP"/>
            </a:defPPr>
          </a:lstStyle>
          <a:p>
            <a:pPr lvl="1"/>
            <a:r>
              <a:rPr lang="ja-JP" altLang="ja-JP" dirty="0"/>
              <a:t>Kria KV260 ビジョン AI スターター キット</a:t>
            </a:r>
            <a:endParaRPr lang="en-US" altLang="ja-JP" dirty="0"/>
          </a:p>
          <a:p>
            <a:pPr lvl="1"/>
            <a:r>
              <a:rPr lang="ja-JP" altLang="ja-JP" dirty="0"/>
              <a:t>Raspberry Pi Camera Module</a:t>
            </a:r>
            <a:r>
              <a:rPr lang="zh-TW" altLang="en-US" dirty="0"/>
              <a:t> </a:t>
            </a:r>
            <a:r>
              <a:rPr lang="en-US" altLang="zh-TW" dirty="0"/>
              <a:t>V2</a:t>
            </a:r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螢幕</a:t>
            </a:r>
            <a:r>
              <a:rPr lang="en-US" altLang="zh-TW" dirty="0"/>
              <a:t>)</a:t>
            </a:r>
            <a:endParaRPr lang="ja-JP" altLang="ja-JP" dirty="0"/>
          </a:p>
          <a:p>
            <a:pPr lvl="1"/>
            <a:endParaRPr lang="ja-JP" altLang="ja-JP" b="1" dirty="0"/>
          </a:p>
          <a:p>
            <a:pPr lvl="1" rtl="0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92044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2854-E7D2-5D9C-FFE9-0E81E184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C26E21-F35C-DCCC-957B-4C2C72C65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zh-TW" altLang="en-US" dirty="0"/>
              <a:t>介紹怎麼切換濾鏡之類的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C25B6F-7A99-B7B0-9697-81FB0F6DCF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/>
          <a:lstStyle>
            <a:defPPr>
              <a:defRPr lang="ja-JP"/>
            </a:defPPr>
          </a:lstStyle>
          <a:p>
            <a:pPr lvl="1"/>
            <a:r>
              <a:rPr lang="ja-JP" altLang="ja-JP" dirty="0"/>
              <a:t>Kria KV260 ビジョン AI スターター キット</a:t>
            </a:r>
            <a:endParaRPr lang="en-US" altLang="ja-JP" dirty="0"/>
          </a:p>
          <a:p>
            <a:pPr lvl="1"/>
            <a:r>
              <a:rPr lang="ja-JP" altLang="ja-JP" dirty="0"/>
              <a:t>Raspberry Pi Camera Module</a:t>
            </a:r>
            <a:r>
              <a:rPr lang="zh-TW" altLang="en-US" dirty="0"/>
              <a:t> </a:t>
            </a:r>
            <a:r>
              <a:rPr lang="en-US" altLang="zh-TW" dirty="0"/>
              <a:t>V2</a:t>
            </a:r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螢幕</a:t>
            </a:r>
            <a:r>
              <a:rPr lang="en-US" altLang="zh-TW" dirty="0"/>
              <a:t>)</a:t>
            </a:r>
            <a:endParaRPr lang="ja-JP" altLang="ja-JP" dirty="0"/>
          </a:p>
          <a:p>
            <a:pPr lvl="1"/>
            <a:endParaRPr lang="ja-JP" altLang="ja-JP" b="1" dirty="0"/>
          </a:p>
          <a:p>
            <a:pPr lvl="1" rtl="0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865384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6E14-A5EF-3DC8-8F8C-5AF2FC81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C8885-48E6-B5F5-A34C-8B97970D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zh-TW" altLang="en-US" dirty="0"/>
              <a:t>介紹程式碼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CA7BBF-DD17-CC89-80C2-12BA77CE07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/>
          <a:lstStyle>
            <a:defPPr>
              <a:defRPr lang="ja-JP"/>
            </a:defPPr>
          </a:lstStyle>
          <a:p>
            <a:pPr lvl="1"/>
            <a:r>
              <a:rPr lang="ja-JP" altLang="ja-JP" dirty="0"/>
              <a:t>Kria KV260 ビジョン AI スターター キット</a:t>
            </a:r>
            <a:endParaRPr lang="en-US" altLang="ja-JP" dirty="0"/>
          </a:p>
          <a:p>
            <a:pPr lvl="1"/>
            <a:r>
              <a:rPr lang="ja-JP" altLang="ja-JP" dirty="0"/>
              <a:t>Raspberry Pi Camera Module</a:t>
            </a:r>
            <a:r>
              <a:rPr lang="zh-TW" altLang="en-US" dirty="0"/>
              <a:t> </a:t>
            </a:r>
            <a:r>
              <a:rPr lang="en-US" altLang="zh-TW" dirty="0"/>
              <a:t>V2</a:t>
            </a:r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螢幕</a:t>
            </a:r>
            <a:r>
              <a:rPr lang="en-US" altLang="zh-TW" dirty="0"/>
              <a:t>)</a:t>
            </a:r>
            <a:endParaRPr lang="ja-JP" altLang="ja-JP" dirty="0"/>
          </a:p>
          <a:p>
            <a:pPr lvl="1"/>
            <a:endParaRPr lang="ja-JP" altLang="ja-JP" b="1" dirty="0"/>
          </a:p>
          <a:p>
            <a:pPr lvl="1" rtl="0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3739726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EC52B-A9D5-694C-8B21-258F1DC8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62436-8909-89AE-4D7C-85233721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zh-TW" altLang="en-US" dirty="0"/>
              <a:t>介紹</a:t>
            </a:r>
            <a:r>
              <a:rPr lang="en-US" altLang="zh-TW" dirty="0"/>
              <a:t>Block Design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0D08B3-4D68-EBE4-D752-E0861910E3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/>
          <a:lstStyle>
            <a:defPPr>
              <a:defRPr lang="ja-JP"/>
            </a:defPPr>
          </a:lstStyle>
          <a:p>
            <a:pPr lvl="1"/>
            <a:r>
              <a:rPr lang="ja-JP" altLang="ja-JP" dirty="0"/>
              <a:t>Kria KV260 ビジョン AI スターター キット</a:t>
            </a:r>
            <a:endParaRPr lang="en-US" altLang="ja-JP" dirty="0"/>
          </a:p>
          <a:p>
            <a:pPr lvl="1"/>
            <a:r>
              <a:rPr lang="ja-JP" altLang="ja-JP" dirty="0"/>
              <a:t>Raspberry Pi Camera Module</a:t>
            </a:r>
            <a:r>
              <a:rPr lang="zh-TW" altLang="en-US" dirty="0"/>
              <a:t> </a:t>
            </a:r>
            <a:r>
              <a:rPr lang="en-US" altLang="zh-TW" dirty="0"/>
              <a:t>V2</a:t>
            </a:r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螢幕</a:t>
            </a:r>
            <a:r>
              <a:rPr lang="en-US" altLang="zh-TW" dirty="0"/>
              <a:t>)</a:t>
            </a:r>
            <a:endParaRPr lang="ja-JP" altLang="ja-JP" dirty="0"/>
          </a:p>
          <a:p>
            <a:pPr lvl="1"/>
            <a:endParaRPr lang="ja-JP" altLang="ja-JP" b="1" dirty="0"/>
          </a:p>
          <a:p>
            <a:pPr lvl="1" rtl="0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32562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0CAC3-4B79-BE96-58A7-DFBBFFAB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B11DE4-33D2-92EC-7500-23A55569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zh-TW" altLang="en-US" dirty="0"/>
              <a:t>介紹腳位跟最終連接後的樣子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7AA69F-B6F0-10B7-3C46-15907B2A8C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/>
          <a:lstStyle>
            <a:defPPr>
              <a:defRPr lang="ja-JP"/>
            </a:defPPr>
          </a:lstStyle>
          <a:p>
            <a:pPr lvl="1"/>
            <a:r>
              <a:rPr lang="ja-JP" altLang="ja-JP" dirty="0"/>
              <a:t>Kria KV260 ビジョン AI スターター キット</a:t>
            </a:r>
            <a:endParaRPr lang="en-US" altLang="ja-JP" dirty="0"/>
          </a:p>
          <a:p>
            <a:pPr lvl="1"/>
            <a:r>
              <a:rPr lang="ja-JP" altLang="ja-JP" dirty="0"/>
              <a:t>Raspberry Pi Camera Module</a:t>
            </a:r>
            <a:r>
              <a:rPr lang="zh-TW" altLang="en-US" dirty="0"/>
              <a:t> </a:t>
            </a:r>
            <a:r>
              <a:rPr lang="en-US" altLang="zh-TW" dirty="0"/>
              <a:t>V2</a:t>
            </a:r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螢幕</a:t>
            </a:r>
            <a:r>
              <a:rPr lang="en-US" altLang="zh-TW" dirty="0"/>
              <a:t>)</a:t>
            </a:r>
            <a:endParaRPr lang="ja-JP" altLang="ja-JP" dirty="0"/>
          </a:p>
          <a:p>
            <a:pPr lvl="1"/>
            <a:endParaRPr lang="ja-JP" altLang="ja-JP" b="1" dirty="0"/>
          </a:p>
          <a:p>
            <a:pPr lvl="1" rtl="0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70470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4F59-3628-DC71-8AFC-35A05415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B5BB11-15D3-18C5-8545-47650DBF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en-US" altLang="zh-TW" dirty="0"/>
              <a:t>DEMO</a:t>
            </a:r>
            <a:r>
              <a:rPr lang="zh-TW" altLang="en-US" dirty="0"/>
              <a:t>影片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713556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011C2-566C-4C3C-7B52-892BC25D7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068C6-EBA6-1C5E-EF7A-339C3BB7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en-US" dirty="0"/>
              <a:t>研究で</a:t>
            </a:r>
            <a:r>
              <a:rPr lang="zh-TW" altLang="en-US" dirty="0"/>
              <a:t>得</a:t>
            </a:r>
            <a:r>
              <a:rPr lang="ja-JP" altLang="en-US" dirty="0"/>
              <a:t>られた結果</a:t>
            </a:r>
            <a:endParaRPr lang="en-US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89A33A-7F8A-C056-9D73-37EE0532D5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9414751" cy="3597470"/>
          </a:xfrm>
        </p:spPr>
        <p:txBody>
          <a:bodyPr rtlCol="0"/>
          <a:lstStyle>
            <a:defPPr>
              <a:defRPr lang="ja-JP"/>
            </a:defPPr>
          </a:lstStyle>
          <a:p>
            <a:pPr lvl="1"/>
            <a:r>
              <a:rPr lang="en-US" altLang="ja-JP" dirty="0"/>
              <a:t>FPGA Verilog </a:t>
            </a:r>
            <a:r>
              <a:rPr lang="zh-TW" altLang="en-US" dirty="0"/>
              <a:t>知識</a:t>
            </a:r>
            <a:endParaRPr lang="en-US" altLang="ja-JP" dirty="0"/>
          </a:p>
          <a:p>
            <a:pPr lvl="1"/>
            <a:r>
              <a:rPr lang="en-US" altLang="ja-JP" dirty="0" err="1"/>
              <a:t>Vivado</a:t>
            </a:r>
            <a:r>
              <a:rPr lang="zh-TW" altLang="en-US" dirty="0"/>
              <a:t> 更熟練使用</a:t>
            </a:r>
            <a:r>
              <a:rPr lang="en-US" altLang="zh-TW" dirty="0"/>
              <a:t>(?</a:t>
            </a:r>
          </a:p>
          <a:p>
            <a:pPr lvl="1"/>
            <a:r>
              <a:rPr lang="zh-TW" altLang="en-US" dirty="0"/>
              <a:t>影像處理知識</a:t>
            </a:r>
            <a:endParaRPr lang="en-US" altLang="zh-TW" dirty="0"/>
          </a:p>
          <a:p>
            <a:pPr lvl="1"/>
            <a:endParaRPr lang="ja-JP" altLang="ja-JP" b="1" dirty="0"/>
          </a:p>
          <a:p>
            <a:pPr lvl="1" rtl="0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422792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DDC2-2700-1122-92C3-1358385F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5065F3A2-887E-16F5-E1A3-A6AD8948E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ja-JP"/>
            </a:defPPr>
          </a:lstStyle>
          <a:p>
            <a:r>
              <a:rPr lang="zh-TW" altLang="en-US" dirty="0"/>
              <a:t>反省</a:t>
            </a:r>
            <a:endParaRPr lang="ja-JP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1A1A25F-A831-4F97-96F7-EC55B53AF4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dirty="0"/>
              <a:t>聞き手とアイ コンタクトをとり、親近感を作り出し、聞き手を巻き込みます</a:t>
            </a:r>
          </a:p>
          <a:p>
            <a:pPr rtl="0"/>
            <a:r>
              <a:rPr lang="ja-JP" dirty="0"/>
              <a:t>実話を使って、プレゼンテーションに共感できる話を織り込んで、メッセージを印象的でインパクトのあるものにします</a:t>
            </a:r>
          </a:p>
          <a:p>
            <a:pPr rtl="0"/>
            <a:r>
              <a:rPr lang="ja-JP" dirty="0"/>
              <a:t>質問するように促し、考え深い回答をして、聞き手の参加を高める</a:t>
            </a:r>
          </a:p>
          <a:p>
            <a:pPr rtl="0"/>
            <a:r>
              <a:rPr lang="ja-JP" dirty="0"/>
              <a:t>ライブ投票やアンケートを行って、聞き手の意見を集め、エンゲージメントを促進し、聞き手が参加していると感じられるようにする</a:t>
            </a:r>
          </a:p>
          <a:p>
            <a:pPr rtl="0"/>
            <a:endParaRPr lang="ja-JP" dirty="0"/>
          </a:p>
          <a:p>
            <a:pPr rtl="0"/>
            <a:endParaRPr lang="ja-JP" dirty="0"/>
          </a:p>
        </p:txBody>
      </p:sp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422EB930-73CF-93AF-5D4D-E5310F911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フリーフォーム(F) 19">
              <a:extLst>
                <a:ext uri="{FF2B5EF4-FFF2-40B4-BE49-F238E27FC236}">
                  <a16:creationId xmlns:a16="http://schemas.microsoft.com/office/drawing/2014/main" id="{D4CDF66F-0167-E908-F08E-9BC29329D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(F) 20">
              <a:extLst>
                <a:ext uri="{FF2B5EF4-FFF2-40B4-BE49-F238E27FC236}">
                  <a16:creationId xmlns:a16="http://schemas.microsoft.com/office/drawing/2014/main" id="{8FC82C43-C47B-07E4-7491-A523493A4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B473E9E6-C3F9-E163-08A0-99C3BD381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469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1A27-E36B-F504-F6DA-FCC9A3E3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32AC1DD-FBB0-E161-BA46-53FA7162C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en-US" dirty="0"/>
              <a:t>まとめ</a:t>
            </a:r>
            <a:endParaRPr lang="ja-JP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69FF6D13-C4BE-A69D-5CAF-F12944E095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聞き手とアイ コンタクトをとり、親近感を作り出し、聞き手を巻き込みます</a:t>
            </a:r>
          </a:p>
          <a:p>
            <a:pPr rtl="0"/>
            <a:r>
              <a:rPr lang="ja-JP"/>
              <a:t>実話を使って、プレゼンテーションに共感できる話を織り込んで、メッセージを印象的でインパクトのあるものにします</a:t>
            </a:r>
          </a:p>
          <a:p>
            <a:pPr rtl="0"/>
            <a:r>
              <a:rPr lang="ja-JP"/>
              <a:t>質問するように促し、考え深い回答をして、聞き手の参加を高める</a:t>
            </a:r>
          </a:p>
          <a:p>
            <a:pPr rtl="0"/>
            <a:r>
              <a:rPr lang="ja-JP"/>
              <a:t>ライブ投票やアンケートを行って、聞き手の意見を集め、エンゲージメントを促進し、聞き手が参加していると感じられるようにする</a:t>
            </a:r>
          </a:p>
          <a:p>
            <a:pPr rtl="0"/>
            <a:endParaRPr lang="ja-JP" dirty="0"/>
          </a:p>
          <a:p>
            <a:pPr rtl="0"/>
            <a:endParaRPr lang="ja-JP" dirty="0"/>
          </a:p>
        </p:txBody>
      </p:sp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F0BA93E5-0A76-6B0A-E80F-875A44037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フリーフォーム(F) 19">
              <a:extLst>
                <a:ext uri="{FF2B5EF4-FFF2-40B4-BE49-F238E27FC236}">
                  <a16:creationId xmlns:a16="http://schemas.microsoft.com/office/drawing/2014/main" id="{333AE370-0757-AEC0-AF03-4B3A8939F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(F) 20">
              <a:extLst>
                <a:ext uri="{FF2B5EF4-FFF2-40B4-BE49-F238E27FC236}">
                  <a16:creationId xmlns:a16="http://schemas.microsoft.com/office/drawing/2014/main" id="{D4C2D834-4E78-2AE1-ADAB-533BFA1C9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C7A26FBB-0D12-07F7-56E9-F0A4EB1B7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7115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59" y="411479"/>
            <a:ext cx="7247313" cy="329184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dirty="0"/>
              <a:t>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プレースホルダー 10" descr="植物のクローズ アップ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ja-JP" dirty="0"/>
              <a:t>コミュニケーションのパワー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緊張に打ち勝つ</a:t>
            </a:r>
          </a:p>
        </p:txBody>
      </p:sp>
      <p:pic>
        <p:nvPicPr>
          <p:cNvPr id="12" name="図プレースホルダー 4" descr="木目調のクローズアップ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信頼を構築する戦略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C20B6-2D27-7B70-0A2B-215652D0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7B49035A-91F1-583B-7F63-45B8056F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聞き手を引き付ける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F4E317B9-3F2A-4C64-9162-75A6622A2B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聞き手とアイ コンタクトをとり、親近感を作り出し、聞き手を巻き込みます</a:t>
            </a:r>
          </a:p>
          <a:p>
            <a:pPr rtl="0"/>
            <a:r>
              <a:rPr lang="ja-JP"/>
              <a:t>実話を使って、プレゼンテーションに共感できる話を織り込んで、メッセージを印象的でインパクトのあるものにします</a:t>
            </a:r>
          </a:p>
          <a:p>
            <a:pPr rtl="0"/>
            <a:r>
              <a:rPr lang="ja-JP"/>
              <a:t>質問するように促し、考え深い回答をして、聞き手の参加を高める</a:t>
            </a:r>
          </a:p>
          <a:p>
            <a:pPr rtl="0"/>
            <a:r>
              <a:rPr lang="ja-JP"/>
              <a:t>ライブ投票やアンケートを行って、聞き手の意見を集め、エンゲージメントを促進し、聞き手が参加していると感じられるようにする</a:t>
            </a:r>
          </a:p>
          <a:p>
            <a:pPr rtl="0"/>
            <a:endParaRPr lang="ja-JP" dirty="0"/>
          </a:p>
          <a:p>
            <a:pPr rtl="0"/>
            <a:endParaRPr lang="ja-JP" dirty="0"/>
          </a:p>
        </p:txBody>
      </p:sp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2018A324-52E1-A681-51D3-C2693695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フリーフォーム(F) 19">
              <a:extLst>
                <a:ext uri="{FF2B5EF4-FFF2-40B4-BE49-F238E27FC236}">
                  <a16:creationId xmlns:a16="http://schemas.microsoft.com/office/drawing/2014/main" id="{3A428CE4-BD64-1879-FBD2-DDAFF3241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(F) 20">
              <a:extLst>
                <a:ext uri="{FF2B5EF4-FFF2-40B4-BE49-F238E27FC236}">
                  <a16:creationId xmlns:a16="http://schemas.microsoft.com/office/drawing/2014/main" id="{A3056B0C-F1AA-E147-270D-AE528D573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4302E846-9589-0A18-B291-D53FF9D21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725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視覚資料の選択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プレゼンテーションを向上させる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278129"/>
            <a:ext cx="8909858" cy="1494596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ja-JP" dirty="0"/>
              <a:t>効果的にプレゼンテーションを提供するテクニック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これは、公の場で話す時の強力なツールです。これには、声の高さ、トーン、声量を変えることで、感情を伝え、要点を強調し、関心を維持することが含まれます。</a:t>
            </a:r>
          </a:p>
          <a:p>
            <a:pPr lvl="1" rtl="0"/>
            <a:r>
              <a:rPr lang="ja-JP"/>
              <a:t>高低の変化</a:t>
            </a:r>
          </a:p>
          <a:p>
            <a:pPr lvl="1" rtl="0"/>
            <a:r>
              <a:rPr lang="ja-JP"/>
              <a:t>トーンの変化</a:t>
            </a:r>
          </a:p>
          <a:p>
            <a:pPr lvl="1" rtl="0"/>
            <a:r>
              <a:rPr lang="ja-JP"/>
              <a:t>声量​​のコントロール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ボディー ランゲージを効果的に使用すると、メッセージが強調され、よりインパクトのある印象的なものになります:</a:t>
            </a:r>
          </a:p>
          <a:p>
            <a:pPr lvl="1" rtl="0"/>
            <a:r>
              <a:rPr lang="ja-JP"/>
              <a:t>有意義なアイコンタクト</a:t>
            </a:r>
          </a:p>
          <a:p>
            <a:pPr lvl="1" rtl="0"/>
            <a:r>
              <a:rPr lang="ja-JP"/>
              <a:t>意味が伝わるジェスチャー</a:t>
            </a:r>
          </a:p>
          <a:p>
            <a:pPr lvl="1" rtl="0"/>
            <a:r>
              <a:rPr lang="ja-JP"/>
              <a:t>よい姿勢を保つ</a:t>
            </a:r>
          </a:p>
          <a:p>
            <a:pPr lvl="1" rtl="0"/>
            <a:r>
              <a:rPr lang="ja-JP"/>
              <a:t>表情のコントロール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626206" cy="2542810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100000"/>
              </a:lnSpc>
            </a:pPr>
            <a:r>
              <a:rPr lang="ja-JP" dirty="0"/>
              <a:t>Q&amp;A セッションのナビゲート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457201"/>
            <a:ext cx="5198269" cy="230505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事前に資料を把握する</a:t>
            </a:r>
          </a:p>
          <a:p>
            <a:pPr rtl="0"/>
            <a:r>
              <a:rPr lang="ja-JP"/>
              <a:t>よくある質問を想定しておく</a:t>
            </a:r>
          </a:p>
          <a:p>
            <a:pPr rtl="0"/>
            <a:r>
              <a:rPr lang="ja-JP"/>
              <a:t>返答の練習をする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810595"/>
            <a:ext cx="5198269" cy="3319513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Q&amp;A セッションで落ち着きを保つことは、確信と威厳を醸し出すのに不可欠です。落ち着きを保つためのヒントは以下のとおりです。</a:t>
            </a:r>
          </a:p>
          <a:p>
            <a:pPr lvl="1" rtl="0"/>
            <a:r>
              <a:rPr lang="ja-JP"/>
              <a:t>冷静になる</a:t>
            </a:r>
          </a:p>
          <a:p>
            <a:pPr lvl="1" rtl="0"/>
            <a:r>
              <a:rPr lang="ja-JP"/>
              <a:t>アクティブ リスニングをする</a:t>
            </a:r>
          </a:p>
          <a:p>
            <a:pPr lvl="1" rtl="0"/>
            <a:r>
              <a:rPr lang="ja-JP"/>
              <a:t>少し時間をとって振り返る</a:t>
            </a:r>
          </a:p>
          <a:p>
            <a:pPr lvl="1" rtl="0"/>
            <a:r>
              <a:rPr lang="ja-JP"/>
              <a:t>アイコンタクトを保つ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話し方の影響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効果的にコミュニケーションを取る能力は、聞き手に長く残る影響を与えます</a:t>
            </a:r>
          </a:p>
          <a:p>
            <a:pPr rtl="0"/>
            <a:r>
              <a:rPr lang="ja-JP"/>
              <a:t>効果的なコミュニケーションのためには、メッセージを伝えるだけでなく、聞いている人の体験、価値観、感情に共感する必要もあります </a:t>
            </a:r>
          </a:p>
          <a:p>
            <a:pPr rtl="0"/>
            <a:endParaRPr lang="ja-JP" dirty="0"/>
          </a:p>
        </p:txBody>
      </p:sp>
      <p:pic>
        <p:nvPicPr>
          <p:cNvPr id="5" name="図プレースホルダー 52" descr="ぶら下がっている電球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409" y="4661717"/>
            <a:ext cx="7616191" cy="1380760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ja-JP" dirty="0"/>
              <a:t>ダイナミックなプレゼンテーションの提供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B14AAA-1F04-769D-E7F0-4F68C8EB92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584005"/>
            <a:ext cx="2825115" cy="399906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dirty="0"/>
              <a:t>プレゼンテーションの提供にエネルギーを注ぎ込み、長く印象を残す方法について学びます。</a:t>
            </a:r>
          </a:p>
          <a:p>
            <a:pPr rtl="0"/>
            <a:r>
              <a:rPr lang="ja-JP" dirty="0"/>
              <a:t>効果的なコミュニケーションの目標の 1 つは、聞き手に意欲を起こさせることです。</a:t>
            </a:r>
          </a:p>
        </p:txBody>
      </p:sp>
      <p:graphicFrame>
        <p:nvGraphicFramePr>
          <p:cNvPr id="8" name="表プレースホルダー 2">
            <a:extLst>
              <a:ext uri="{FF2B5EF4-FFF2-40B4-BE49-F238E27FC236}">
                <a16:creationId xmlns:a16="http://schemas.microsoft.com/office/drawing/2014/main" id="{C60AA2D2-28D7-69D7-F6C5-B31DAD3332C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71790360"/>
              </p:ext>
            </p:extLst>
          </p:nvPr>
        </p:nvGraphicFramePr>
        <p:xfrm>
          <a:off x="3670300" y="584200"/>
          <a:ext cx="7930340" cy="396468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453409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022764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61636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837804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11373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指標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測定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目標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08914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聴衆者数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出席者数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08914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エンゲージメント時間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11373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Q&amp;A </a:t>
                      </a:r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のやり取り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質問数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11373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ポジティブなフィードバック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12734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情報保持率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ED69F-330F-5FBA-EA70-CDF1D245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F8E6D6-6BFA-22D9-FA78-2BC7AC17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最後のヒントと考慮事項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804B82-D0C6-871C-BC2A-F3B4501130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一貫したリハーサル</a:t>
            </a:r>
          </a:p>
          <a:p>
            <a:pPr lvl="1" rtl="0"/>
            <a:r>
              <a:rPr lang="ja-JP"/>
              <a:t>親しみやすさを高める</a:t>
            </a:r>
          </a:p>
          <a:p>
            <a:pPr rtl="0"/>
            <a:r>
              <a:rPr lang="ja-JP"/>
              <a:t>提供のスタイルを洗練する</a:t>
            </a:r>
          </a:p>
          <a:p>
            <a:pPr lvl="1" rtl="0"/>
            <a:r>
              <a:rPr lang="ja-JP"/>
              <a:t>ペース、トーン、強調</a:t>
            </a:r>
          </a:p>
          <a:p>
            <a:pPr rtl="0"/>
            <a:r>
              <a:rPr lang="ja-JP"/>
              <a:t>タイミングと切り替え</a:t>
            </a:r>
          </a:p>
          <a:p>
            <a:pPr lvl="1" rtl="0"/>
            <a:r>
              <a:rPr lang="ja-JP"/>
              <a:t>シームレスでプロフェッショナルな提供を目指す</a:t>
            </a:r>
          </a:p>
          <a:p>
            <a:pPr rtl="0"/>
            <a:r>
              <a:rPr lang="ja-JP"/>
              <a:t>練習用の聞き手</a:t>
            </a:r>
          </a:p>
          <a:p>
            <a:pPr lvl="1" rtl="0"/>
            <a:r>
              <a:rPr lang="ja-JP"/>
              <a:t>同僚に聞いてもらい、感想を言ってもらう</a:t>
            </a:r>
          </a:p>
          <a:p>
            <a:pPr lvl="1" rtl="0"/>
            <a:endParaRPr lang="ja-JP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CA3AF3-468F-EE8D-6994-7CD2E97503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フィードバックを求める</a:t>
            </a:r>
          </a:p>
          <a:p>
            <a:pPr rtl="0"/>
            <a:r>
              <a:rPr lang="ja-JP"/>
              <a:t>パフォーマンスを振り返る</a:t>
            </a:r>
          </a:p>
          <a:p>
            <a:pPr rtl="0"/>
            <a:r>
              <a:rPr lang="ja-JP"/>
              <a:t>新しいテクニックを探索する</a:t>
            </a:r>
          </a:p>
          <a:p>
            <a:pPr rtl="0"/>
            <a:r>
              <a:rPr lang="ja-JP"/>
              <a:t>個人の目標を設定する</a:t>
            </a:r>
          </a:p>
          <a:p>
            <a:pPr rtl="0"/>
            <a:r>
              <a:rPr lang="ja-JP"/>
              <a:t>反復し、適応する</a:t>
            </a:r>
          </a:p>
        </p:txBody>
      </p:sp>
    </p:spTree>
    <p:extLst>
      <p:ext uri="{BB962C8B-B14F-4D97-AF65-F5344CB8AC3E}">
        <p14:creationId xmlns:p14="http://schemas.microsoft.com/office/powerpoint/2010/main" val="357413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スピーキング エンゲージメント指標</a:t>
            </a:r>
          </a:p>
        </p:txBody>
      </p:sp>
      <p:graphicFrame>
        <p:nvGraphicFramePr>
          <p:cNvPr id="4" name="表プレースホルダー 3">
            <a:extLst>
              <a:ext uri="{FF2B5EF4-FFF2-40B4-BE49-F238E27FC236}">
                <a16:creationId xmlns:a16="http://schemas.microsoft.com/office/drawing/2014/main" id="{4D1FB21E-CCFB-8E64-064C-DB8195F8684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370870443"/>
              </p:ext>
            </p:extLst>
          </p:nvPr>
        </p:nvGraphicFramePr>
        <p:xfrm>
          <a:off x="593725" y="2628900"/>
          <a:ext cx="10991080" cy="356813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73111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04655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87782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5532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468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影響要因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測定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目標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達成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聞き手とのやり取り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知識の定着率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プレゼンテーション後のアンケート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平均評価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紹介率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9468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コラボレーションのチャンス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チャンスの数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5_TF78853419_Win32" id="{58577C8C-4A86-4ADE-B226-05EE0F3D760B}" vid="{D839CB4F-7ADA-4170-AA9C-936648A492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{97220C4F-3A02-47B1-B939-6A3856F2E5CD}TFd3b75063-ff25-434d-b12c-efeaf07d16c3f884f6de_win32-9bb48a9c2a7e</Template>
  <TotalTime>154</TotalTime>
  <Words>933</Words>
  <Application>Microsoft Office PowerPoint</Application>
  <PresentationFormat>寬螢幕</PresentationFormat>
  <Paragraphs>179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9" baseType="lpstr">
      <vt:lpstr>HGPｺﾞｼｯｸE</vt:lpstr>
      <vt:lpstr>Meiryo UI</vt:lpstr>
      <vt:lpstr>Arial</vt:lpstr>
      <vt:lpstr>ユーザー設定</vt:lpstr>
      <vt:lpstr>FPGAカメラ課題 成果発表</vt:lpstr>
      <vt:lpstr>議題</vt:lpstr>
      <vt:lpstr>概要</vt:lpstr>
      <vt:lpstr>研究內容</vt:lpstr>
      <vt:lpstr>使えた機器</vt:lpstr>
      <vt:lpstr>介紹有哪些濾鏡之類的</vt:lpstr>
      <vt:lpstr>介紹怎麼切換濾鏡之類的</vt:lpstr>
      <vt:lpstr>介紹程式碼</vt:lpstr>
      <vt:lpstr>介紹Block Design</vt:lpstr>
      <vt:lpstr>介紹腳位跟最終連接後的樣子</vt:lpstr>
      <vt:lpstr>DEMO影片</vt:lpstr>
      <vt:lpstr>研究で得られた結果</vt:lpstr>
      <vt:lpstr>反省</vt:lpstr>
      <vt:lpstr>まとめ</vt:lpstr>
      <vt:lpstr>ありがとうございました</vt:lpstr>
      <vt:lpstr>コミュニケーションのパワー</vt:lpstr>
      <vt:lpstr>緊張に打ち勝つ</vt:lpstr>
      <vt:lpstr>聞き手を引き付ける</vt:lpstr>
      <vt:lpstr>視覚資料の選択</vt:lpstr>
      <vt:lpstr>効果的にプレゼンテーションを提供するテクニック</vt:lpstr>
      <vt:lpstr>Q&amp;A セッションのナビゲート</vt:lpstr>
      <vt:lpstr>話し方の影響</vt:lpstr>
      <vt:lpstr>ダイナミックなプレゼンテーションの提供</vt:lpstr>
      <vt:lpstr>最後のヒントと考慮事項</vt:lpstr>
      <vt:lpstr>スピーキング エンゲージメント指標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進　小春</dc:creator>
  <cp:lastModifiedBy>進　小春</cp:lastModifiedBy>
  <cp:revision>7</cp:revision>
  <dcterms:created xsi:type="dcterms:W3CDTF">2026-08-17T02:49:28Z</dcterms:created>
  <dcterms:modified xsi:type="dcterms:W3CDTF">2026-08-17T05:24:00Z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